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9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9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33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435667" y="2347019"/>
            <a:ext cx="5320665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Mutual Fund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Capstone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67062" y="4175819"/>
            <a:ext cx="58578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ETL • ANALYTICS • RISK METRICS • REPORTING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33662"/>
            <a:ext cx="2614612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6137" y="2633662"/>
            <a:ext cx="2614612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633662"/>
            <a:ext cx="2614612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6362" y="2633662"/>
            <a:ext cx="2614612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103233" y="3576637"/>
            <a:ext cx="15701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Data Engineering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76300" y="3900487"/>
            <a:ext cx="20240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ETL pipeline, SQLite schema, and query readiness.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763327" y="3576637"/>
            <a:ext cx="1860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Exploratory Analysis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681412" y="3900487"/>
            <a:ext cx="20240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Trends, fund-house patterns, and category summaries.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48437" y="3576637"/>
            <a:ext cx="19002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Performance Metrics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486525" y="3900487"/>
            <a:ext cx="20240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CAGR, Volatility, Sharpe Ratio, Beta, and VaR analysis.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43573" y="3576637"/>
            <a:ext cx="15201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Final Storytelling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291637" y="3900487"/>
            <a:ext cx="20240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Interactive dashboard and executive presentation.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1643" y="29575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02943" y="29575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08056" y="29575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13168" y="29575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771525" y="581025"/>
            <a:ext cx="568071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SUBMISSION STRUCTURE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33650"/>
            <a:ext cx="532447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33650"/>
            <a:ext cx="5324475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76300" y="282892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Foundation (D1-D3)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581775" y="282892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Analytics (D4-D7)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76300" y="32575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D1 ETL Script (15%):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End-to-end error handling.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76300" y="3705225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D2 SQLite DB (10%):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Complete schema &amp; tables.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76300" y="4152900"/>
            <a:ext cx="4733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D3 EDA Notebook (15%):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Insightful charts and explanations.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581775" y="32575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D4 Metrics (15%):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Precise risk formulas.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581775" y="3705225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D5 Dashboard (20%):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Functional slicers.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581775" y="415290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D6/D7 Results (25%):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Findings &amp; reporting.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71525" y="581025"/>
            <a:ext cx="66008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DELIVERABLES &amp; WEIGHTAGE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86062"/>
            <a:ext cx="2614612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6137" y="2786062"/>
            <a:ext cx="2614612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786062"/>
            <a:ext cx="2614612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6362" y="2786062"/>
            <a:ext cx="2614612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563290" y="3729037"/>
            <a:ext cx="6500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Extract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76300" y="4052887"/>
            <a:ext cx="20240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Raw scheme, NAV, and benchmark files.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218384" y="3729037"/>
            <a:ext cx="9501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Transform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681412" y="4052887"/>
            <a:ext cx="20240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Normalizing dates and standardizing fields.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278528" y="3729037"/>
            <a:ext cx="4400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Load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486525" y="4052887"/>
            <a:ext cx="20240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Persist into SQLite for reproducible queries.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933622" y="3729037"/>
            <a:ext cx="7400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Analyze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291637" y="4052887"/>
            <a:ext cx="20240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Derive performance and risk metrics.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4018" y="310991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9131" y="310991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08056" y="31099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13168" y="31099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71525" y="581025"/>
            <a:ext cx="4650581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WORKFLOW PIPELINE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33700"/>
            <a:ext cx="532447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33700"/>
            <a:ext cx="5324475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876300" y="322897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Reference Tables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76300" y="36004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 Fund Master Metadata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76300" y="39052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 Benchmark Index History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76300" y="42100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 SIP &amp; Industry Folio Counts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581775" y="322897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Analytical Tables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581775" y="36004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 NAV History &amp; Rolling Performance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581775" y="39052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 Investor Transactions &amp; SIPs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581775" y="42100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 Portfolio Holdings Composition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71525" y="581025"/>
            <a:ext cx="628078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DATABASE DESIGN (SQLITE)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71525" y="581025"/>
            <a:ext cx="499062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EXPLORATORY ANALYSIS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81025" y="581025"/>
            <a:ext cx="47625" cy="10096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1009650" y="2862262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Flow Patterns: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Reveal retail participation trends across categories.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009650" y="3709987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Fund Concentration: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Analyze AMC market dominance and AUM fragmentation.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1009650" y="4557712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Behavior Shifts: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Track systematic investing and redemption pressure.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9003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480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595812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33700"/>
            <a:ext cx="532447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33700"/>
            <a:ext cx="5324475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876300" y="322897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Return and Risk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76300" y="36004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CAGR: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Annualized growth over NAV period.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76300" y="39052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Volatility: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Standard deviation of periodic returns.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76300" y="42100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VaR: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Downside loss at specific confidence.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581775" y="322897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Relative Performance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581775" y="36004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Sharpe Ratio: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Excess return vs total risk.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581775" y="39052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Beta: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Benchmark movement sensitivity.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581775" y="42100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Spread: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Delta vs category benchmark.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771525" y="581025"/>
            <a:ext cx="606075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PERFORMANCE ANALYTICS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86062"/>
            <a:ext cx="2614612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6137" y="2786062"/>
            <a:ext cx="2614612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786062"/>
            <a:ext cx="2614612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6362" y="2786062"/>
            <a:ext cx="2614612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1443275" y="3729037"/>
            <a:ext cx="89011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Overview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76300" y="4052887"/>
            <a:ext cx="20240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KPI Cards &amp; AUM Summary.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4108370" y="3729037"/>
            <a:ext cx="11701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Performance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3681412" y="4052887"/>
            <a:ext cx="20240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Scheme vs Benchmark Comparison.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918483" y="3729037"/>
            <a:ext cx="11601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Transactions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486525" y="4052887"/>
            <a:ext cx="20240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Purchase &amp; SIP Behavior.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10118645" y="3729037"/>
            <a:ext cx="3700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Risk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9291637" y="4052887"/>
            <a:ext cx="20240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VaR &amp; Holdings Concentration.</a:t>
            </a:r>
            <a:endParaRPr/>
          </a:p>
        </p:txBody>
      </p:sp>
      <p:pic>
        <p:nvPicPr>
          <p:cNvPr descr="image.png" id="216" name="Google Shape;2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4018" y="310991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55318" y="31099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60431" y="31099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13168" y="31099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771525" y="581025"/>
            <a:ext cx="532066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DASHBOARD BLUEPRINT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86062"/>
            <a:ext cx="35495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786062"/>
            <a:ext cx="3549699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786062"/>
            <a:ext cx="354955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1650712" y="3729037"/>
            <a:ext cx="14101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Cohort Analysis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876300" y="4052887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Analyze retention and repeat investor behavior.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435768" y="3729037"/>
            <a:ext cx="13201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Recommender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4616350" y="4052887"/>
            <a:ext cx="29591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Logic-based matching using volatility profiles.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9195970" y="3729037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Stress Metrics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8356550" y="4052887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Historical VaR distribution summaries.</a:t>
            </a:r>
            <a:endParaRPr/>
          </a:p>
        </p:txBody>
      </p:sp>
      <p:pic>
        <p:nvPicPr>
          <p:cNvPr descr="image.png" id="236" name="Google Shape;23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7675" y="31099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351" y="31099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9363" y="31099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771525" y="581025"/>
            <a:ext cx="523065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ADVANCED ANALYTICS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1009650" y="3057525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Stabilize ETL &amp; DB: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Ensure every table is queryable before notebooks.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009650" y="3600450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Notebook Development: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Use SQLite as the single source of truth for EDA.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1009650" y="4143375"/>
            <a:ext cx="1060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Dashboard Finalization: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Reuse validated metrics to ensure data consistency.</a:t>
            </a:r>
            <a:endParaRPr/>
          </a:p>
        </p:txBody>
      </p:sp>
      <p:pic>
        <p:nvPicPr>
          <p:cNvPr descr="image.png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9562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638550"/>
            <a:ext cx="1524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81475"/>
            <a:ext cx="1428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771525" y="581025"/>
            <a:ext cx="394049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EXECUTION PLAN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33700"/>
            <a:ext cx="532447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33700"/>
            <a:ext cx="5324475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876300" y="322897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Technical Excellence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876300" y="36004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 Zero manual interventions in script.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876300" y="39052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 Mathematical precision in formulas.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876300" y="42100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 Complete, normalized database schema.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6581775" y="322897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Presentation Value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581775" y="36004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 High-impact, readable visuals.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581775" y="39052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 Interactive slicers in Power BI.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581775" y="421005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 Clear executive business summary.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771525" y="581025"/>
            <a:ext cx="4650581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QUALITY CHECKLIST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581025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581025" y="1451669"/>
            <a:ext cx="559069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Final Message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581025" y="2423219"/>
            <a:ext cx="53244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8D5B5"/>
                </a:solidFill>
                <a:latin typeface="Urbanist"/>
                <a:ea typeface="Urbanist"/>
                <a:cs typeface="Urbanist"/>
                <a:sym typeface="Urbanist"/>
              </a:rPr>
              <a:t>A strong capstone is not just about calculations. It showcases a reliable pipeline, a trustworthy database, and </a:t>
            </a:r>
            <a:r>
              <a:rPr b="1" i="0" lang="en-US" sz="1800" u="none" cap="none" strike="noStrike">
                <a:solidFill>
                  <a:srgbClr val="C9A84C"/>
                </a:solidFill>
                <a:latin typeface="Urbanist"/>
                <a:ea typeface="Urbanist"/>
                <a:cs typeface="Urbanist"/>
                <a:sym typeface="Urbanist"/>
              </a:rPr>
              <a:t>business-ready storytelling.</a:t>
            </a:r>
            <a:endParaRPr/>
          </a:p>
        </p:txBody>
      </p:sp>
      <p:pic>
        <p:nvPicPr>
          <p:cNvPr descr="image.png" id="279" name="Google Shape;27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590550"/>
            <a:ext cx="53054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